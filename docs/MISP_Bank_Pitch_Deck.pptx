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778240" y="-1097280"/>
            <a:ext cx="5943600" cy="8961120"/>
          </a:xfrm>
          <a:prstGeom prst="parallelogram">
            <a:avLst/>
          </a:prstGeom>
          <a:solidFill>
            <a:srgbClr val="071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420624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DB3FF"/>
                </a:solidFill>
                <a:latin typeface="Segoe UI"/>
              </a:rPr>
              <a:t>THEME · DIGITAL TRANSFORMATION IN LENDING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Segoe UI"/>
              </a:rPr>
              <a:t>MISP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C3D4EC"/>
                </a:solidFill>
                <a:latin typeface="Segoe UI"/>
              </a:rPr>
              <a:t>AI-Powered Hyper-Personalized Banking for Bharat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FB4CD"/>
                </a:solidFill>
                <a:latin typeface="Segoe UI"/>
              </a:rPr>
              <a:t>A working prototype — not a mockup — where every transaction runs through a real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FB4CD"/>
                </a:solidFill>
                <a:latin typeface="Segoe UI"/>
              </a:rPr>
              <a:t>fraud engine, a trained behavioral model, and an ethics gate that can explain itself.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3484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071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553712"/>
            <a:ext cx="22768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074920"/>
            <a:ext cx="2276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ACD6"/>
                </a:solidFill>
                <a:latin typeface="Segoe UI"/>
              </a:rPr>
              <a:t>BEHAVIORAL SEGMENTS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0984" y="443484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071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6" y="4553712"/>
            <a:ext cx="22768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6" y="5074920"/>
            <a:ext cx="2276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ACD6"/>
                </a:solidFill>
                <a:latin typeface="Segoe UI"/>
              </a:rPr>
              <a:t>PERSONALIZED OFFER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443484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071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553712"/>
            <a:ext cx="22768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074920"/>
            <a:ext cx="2276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ACD6"/>
                </a:solidFill>
                <a:latin typeface="Segoe UI"/>
              </a:rPr>
              <a:t>LANGUAGES · EN / HI / GU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05672" y="443484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071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0264" y="4553712"/>
            <a:ext cx="22768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0264" y="5074920"/>
            <a:ext cx="2276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FACD6"/>
                </a:solidFill>
                <a:latin typeface="Segoe UI"/>
              </a:rPr>
              <a:t>EXPLAINABLE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807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F8BB5"/>
                </a:solidFill>
                <a:latin typeface="Segoe UI"/>
              </a:rPr>
              <a:t>Built for: AI-Powered Hyper-Personalized Banking for Bharat  ·  live prototype, not a slide-only concept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Segoe UI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57B0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A2547"/>
                </a:solidFill>
                <a:latin typeface="Segoe UI"/>
              </a:rPr>
              <a:t>Rich data. Generic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B6B83"/>
                </a:solidFill>
                <a:latin typeface="Segoe UI"/>
              </a:rPr>
              <a:t>Indian banks have UPI, video KYC, and mobile apps — but the same generic pop-ups,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B6B83"/>
                </a:solidFill>
                <a:latin typeface="Segoe UI"/>
              </a:rPr>
              <a:t>the same language, and the same punitive fraud flags for every single customer.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3520440" cy="3566160"/>
          </a:xfrm>
          <a:prstGeom prst="roundRect">
            <a:avLst>
              <a:gd name="adj" fmla="val 4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3520440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6517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0F1729"/>
                </a:solidFill>
                <a:latin typeface="Segoe UI"/>
              </a:rPr>
              <a:t>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337560"/>
            <a:ext cx="2935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A2547"/>
                </a:solidFill>
                <a:latin typeface="Segoe UI"/>
              </a:rPr>
              <a:t>One-size-fits-all offers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160520"/>
            <a:ext cx="293522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5B6B83"/>
                </a:solidFill>
                <a:latin typeface="Segoe UI"/>
              </a:rPr>
              <a:t>Every customer sees the same generic banner, regardless of their real spending, savings, or life stage.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331720"/>
            <a:ext cx="3520440" cy="3566160"/>
          </a:xfrm>
          <a:prstGeom prst="roundRect">
            <a:avLst>
              <a:gd name="adj" fmla="val 4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331720"/>
            <a:ext cx="3520440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6517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0F1729"/>
                </a:solidFill>
                <a:latin typeface="Segoe UI"/>
              </a:rPr>
              <a:t>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3337560"/>
            <a:ext cx="2935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A2547"/>
                </a:solidFill>
                <a:latin typeface="Segoe UI"/>
              </a:rPr>
              <a:t>Language shuts people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4160520"/>
            <a:ext cx="293522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5B6B83"/>
                </a:solidFill>
                <a:latin typeface="Segoe UI"/>
              </a:rPr>
              <a:t>Tier 2/3/4 and rural customers find English-only, jargon-heavy digital journeys confusing and drop off.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331720"/>
            <a:ext cx="3520440" cy="3566160"/>
          </a:xfrm>
          <a:prstGeom prst="roundRect">
            <a:avLst>
              <a:gd name="adj" fmla="val 45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331720"/>
            <a:ext cx="3520440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26517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0F1729"/>
                </a:solidFill>
                <a:latin typeface="Segoe UI"/>
              </a:rPr>
              <a:t>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337560"/>
            <a:ext cx="29352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A2547"/>
                </a:solidFill>
                <a:latin typeface="Segoe UI"/>
              </a:rPr>
              <a:t>Fraud flags are punitive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4160520"/>
            <a:ext cx="293522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5B6B83"/>
                </a:solidFill>
                <a:latin typeface="Segoe UI"/>
              </a:rPr>
              <a:t>A missed EMI or unusual pattern triggers a blunt block or default flag — never a proactive, empathetic offer of support.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B6B83"/>
                </a:solidFill>
                <a:latin typeface="Segoe UI"/>
              </a:rPr>
              <a:t>MISP BANK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3"/>
                </a:solidFill>
                <a:latin typeface="Segoe U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57B0"/>
                </a:solidFill>
                <a:latin typeface="Segoe UI"/>
              </a:rPr>
              <a:t>THE CHALLENGE WE ANSWERED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A2547"/>
                </a:solidFill>
                <a:latin typeface="Segoe UI"/>
              </a:rPr>
              <a:t>Three concrete asks. Three shipped 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713232" cy="1353312"/>
          </a:xfrm>
          <a:prstGeom prst="roundRect">
            <a:avLst>
              <a:gd name="adj" fmla="val 18000"/>
            </a:avLst>
          </a:prstGeom>
          <a:solidFill>
            <a:srgbClr val="0B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713232" cy="1353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81328" y="1783080"/>
            <a:ext cx="7360920" cy="1353312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929384"/>
            <a:ext cx="685800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0F1729"/>
                </a:solidFill>
                <a:latin typeface="Segoe UI"/>
              </a:rPr>
              <a:t>Analyze transaction history &amp; life-stage signals to proactively recommend the right product at the right moment — not generic pop-ups.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130552"/>
            <a:ext cx="2542032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B5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6840" y="2130552"/>
            <a:ext cx="254203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0B57B0"/>
                </a:solidFill>
                <a:latin typeface="Segoe UI"/>
              </a:rPr>
              <a:t>Personalization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82696"/>
            <a:ext cx="713232" cy="1353312"/>
          </a:xfrm>
          <a:prstGeom prst="roundRect">
            <a:avLst>
              <a:gd name="adj" fmla="val 18000"/>
            </a:avLst>
          </a:prstGeom>
          <a:solidFill>
            <a:srgbClr val="B3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82696"/>
            <a:ext cx="713232" cy="1353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81328" y="3282696"/>
            <a:ext cx="7360920" cy="1353312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3429000"/>
            <a:ext cx="685800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0F1729"/>
                </a:solidFill>
                <a:latin typeface="Segoe UI"/>
              </a:rPr>
              <a:t>Simplify onboarding, KYC, and loan journeys with a vernacular conversational assistant that reduces drop-offs for first-time digital users.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3630168"/>
            <a:ext cx="2542032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B3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3630168"/>
            <a:ext cx="254203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B3791F"/>
                </a:solidFill>
                <a:latin typeface="Segoe UI"/>
              </a:rPr>
              <a:t>Vernacular Assistant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713232" cy="1353312"/>
          </a:xfrm>
          <a:prstGeom prst="roundRect">
            <a:avLst>
              <a:gd name="adj" fmla="val 18000"/>
            </a:avLst>
          </a:prstGeom>
          <a:solidFill>
            <a:srgbClr val="1F8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82312"/>
            <a:ext cx="713232" cy="1353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81328" y="4782312"/>
            <a:ext cx="7360920" cy="1353312"/>
          </a:xfrm>
          <a:prstGeom prst="roundRect">
            <a:avLst>
              <a:gd name="adj" fmla="val 5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4928616"/>
            <a:ext cx="685800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0F1729"/>
                </a:solidFill>
                <a:latin typeface="Segoe UI"/>
              </a:rPr>
              <a:t>Detect early signals of financial stress or fraud and trigger proactive, empathetic support instead of a punitive block or default flag.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5129783"/>
            <a:ext cx="2542032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F8A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5129783"/>
            <a:ext cx="254203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F8A51"/>
                </a:solidFill>
                <a:latin typeface="Segoe UI"/>
              </a:rPr>
              <a:t>Fraud &amp; Stress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B6B83"/>
                </a:solidFill>
                <a:latin typeface="Segoe UI"/>
              </a:rPr>
              <a:t>MISP BANK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3"/>
                </a:solidFill>
                <a:latin typeface="Segoe U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DB3FF"/>
                </a:solidFill>
                <a:latin typeface="Segoe UI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 bank that reads your real financial life —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and can explain every decision it makes.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C3D4EC"/>
                </a:solidFill>
                <a:latin typeface="Segoe UI"/>
              </a:rPr>
              <a:t>Every transaction runs through a hard-rule safety gate, a trained fraud classifier, and a behavioral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C3D4EC"/>
                </a:solidFill>
                <a:latin typeface="Segoe UI"/>
              </a:rPr>
              <a:t>segmentation model — deciding in milliseconds whether to post it, protect it, or personalize around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46120"/>
            <a:ext cx="3520440" cy="2606040"/>
          </a:xfrm>
          <a:prstGeom prst="roundRect">
            <a:avLst>
              <a:gd name="adj" fmla="val 5000"/>
            </a:avLst>
          </a:prstGeom>
          <a:solidFill>
            <a:srgbClr val="071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3520440"/>
            <a:ext cx="640080" cy="640080"/>
          </a:xfrm>
          <a:prstGeom prst="ellipse">
            <a:avLst/>
          </a:prstGeom>
          <a:solidFill>
            <a:srgbClr val="0B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5204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0F1729"/>
                </a:solidFill>
                <a:latin typeface="Segoe UI"/>
              </a:rPr>
              <a:t>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29768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FFFFFF"/>
                </a:solidFill>
                <a:latin typeface="Segoe UI"/>
              </a:rPr>
              <a:t>Fraud &amp; Stress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937760"/>
            <a:ext cx="29352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FB4CD"/>
                </a:solidFill>
                <a:latin typeface="Segoe UI"/>
              </a:rPr>
              <a:t>Hard rules + ML score + grace period, never a punitive freeze.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246120"/>
            <a:ext cx="3520440" cy="2606040"/>
          </a:xfrm>
          <a:prstGeom prst="roundRect">
            <a:avLst>
              <a:gd name="adj" fmla="val 5000"/>
            </a:avLst>
          </a:prstGeom>
          <a:solidFill>
            <a:srgbClr val="071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36008" y="3520440"/>
            <a:ext cx="640080" cy="640080"/>
          </a:xfrm>
          <a:prstGeom prst="ellipse">
            <a:avLst/>
          </a:prstGeom>
          <a:solidFill>
            <a:srgbClr val="0B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35204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0F1729"/>
                </a:solidFill>
                <a:latin typeface="Segoe UI"/>
              </a:rPr>
              <a:t>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429768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FFFFFF"/>
                </a:solidFill>
                <a:latin typeface="Segoe UI"/>
              </a:rPr>
              <a:t>Personalization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4937760"/>
            <a:ext cx="29352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FB4CD"/>
                </a:solidFill>
                <a:latin typeface="Segoe UI"/>
              </a:rPr>
              <a:t>7 behavioral segments → 19-rule offer engine, tailored per customer.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246120"/>
            <a:ext cx="3520440" cy="2606040"/>
          </a:xfrm>
          <a:prstGeom prst="roundRect">
            <a:avLst>
              <a:gd name="adj" fmla="val 5000"/>
            </a:avLst>
          </a:prstGeom>
          <a:solidFill>
            <a:srgbClr val="071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39328" y="3520440"/>
            <a:ext cx="640080" cy="640080"/>
          </a:xfrm>
          <a:prstGeom prst="ellipse">
            <a:avLst/>
          </a:prstGeom>
          <a:solidFill>
            <a:srgbClr val="0B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35204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0F1729"/>
                </a:solidFill>
                <a:latin typeface="Segoe UI"/>
              </a:rP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429768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FFFFFF"/>
                </a:solidFill>
                <a:latin typeface="Segoe UI"/>
              </a:rPr>
              <a:t>Vernacular 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4937760"/>
            <a:ext cx="29352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FB4CD"/>
                </a:solidFill>
                <a:latin typeface="Segoe UI"/>
              </a:rPr>
              <a:t>EN · HI · GU chat + one-tap mock KYC, ethics-gated.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Segoe U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57B0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2547"/>
                </a:solidFill>
                <a:latin typeface="Segoe UI"/>
              </a:rPr>
              <a:t>Data → decision pipeline → personalized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2286000" cy="8686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27048"/>
            <a:ext cx="20116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9"/>
                </a:solidFill>
                <a:latin typeface="Segoe UI"/>
              </a:rPr>
              <a:t>Transaction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9"/>
                </a:solidFill>
                <a:latin typeface="Segoe UI"/>
              </a:rPr>
              <a:t>History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417320"/>
            <a:ext cx="2286000" cy="8686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527048"/>
            <a:ext cx="20116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9"/>
                </a:solidFill>
                <a:latin typeface="Segoe UI"/>
              </a:rPr>
              <a:t>Live Request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9"/>
                </a:solidFill>
                <a:latin typeface="Segoe UI"/>
              </a:rPr>
              <a:t>(amount, device, geo)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417320"/>
            <a:ext cx="2286000" cy="8686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0" y="1527048"/>
            <a:ext cx="20116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9"/>
                </a:solidFill>
                <a:latin typeface="Segoe UI"/>
              </a:rPr>
              <a:t>Rolling Behavioral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9"/>
                </a:solidFill>
                <a:latin typeface="Segoe UI"/>
              </a:rPr>
              <a:t>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417320"/>
            <a:ext cx="2286000" cy="868680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527048"/>
            <a:ext cx="20116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9"/>
                </a:solidFill>
                <a:latin typeface="Segoe UI"/>
              </a:rPr>
              <a:t>Policy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9"/>
                </a:solidFill>
                <a:latin typeface="Segoe UI"/>
              </a:rPr>
              <a:t>Documents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00200" y="2286000"/>
            <a:ext cx="0" cy="320040"/>
          </a:xfrm>
          <a:prstGeom prst="line">
            <a:avLst/>
          </a:prstGeom>
          <a:ln w="25400">
            <a:solidFill>
              <a:srgbClr val="5B6B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2286000"/>
            <a:ext cx="0" cy="320040"/>
          </a:xfrm>
          <a:prstGeom prst="line">
            <a:avLst/>
          </a:prstGeom>
          <a:ln w="25400">
            <a:solidFill>
              <a:srgbClr val="5B6B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29400" y="2286000"/>
            <a:ext cx="0" cy="320040"/>
          </a:xfrm>
          <a:prstGeom prst="line">
            <a:avLst/>
          </a:prstGeom>
          <a:ln w="25400">
            <a:solidFill>
              <a:srgbClr val="5B6B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144000" y="2286000"/>
            <a:ext cx="0" cy="320040"/>
          </a:xfrm>
          <a:prstGeom prst="line">
            <a:avLst/>
          </a:prstGeom>
          <a:ln w="25400">
            <a:solidFill>
              <a:srgbClr val="5B6B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" y="2651760"/>
            <a:ext cx="4846320" cy="105156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61488"/>
            <a:ext cx="4572000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Hard Fraud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192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FFFFFF"/>
                </a:solidFill>
                <a:latin typeface="Segoe UI"/>
              </a:rPr>
              <a:t>explainable, non-ML — always wins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2651760"/>
            <a:ext cx="4846320" cy="1051560"/>
          </a:xfrm>
          <a:prstGeom prst="roundRect">
            <a:avLst>
              <a:gd name="adj" fmla="val 8000"/>
            </a:avLst>
          </a:prstGeom>
          <a:solidFill>
            <a:srgbClr val="0B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2761488"/>
            <a:ext cx="4572000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Fraud Classifier + Segmentation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3192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FFFFFF"/>
                </a:solidFill>
                <a:latin typeface="Segoe UI"/>
              </a:rPr>
              <a:t>RandomForest / IsolationForest · HistGBM / XGBoost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80360" y="3703320"/>
            <a:ext cx="0" cy="320040"/>
          </a:xfrm>
          <a:prstGeom prst="line">
            <a:avLst/>
          </a:prstGeom>
          <a:ln w="25400">
            <a:solidFill>
              <a:srgbClr val="5B6B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909560" y="3703320"/>
            <a:ext cx="0" cy="320040"/>
          </a:xfrm>
          <a:prstGeom prst="line">
            <a:avLst/>
          </a:prstGeom>
          <a:ln w="25400">
            <a:solidFill>
              <a:srgbClr val="5B6B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7200" y="40690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0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178808"/>
            <a:ext cx="30175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Post / Block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+ Audit Log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40690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B3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4178808"/>
            <a:ext cx="30175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19-Rule Offer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Engine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4069080"/>
            <a:ext cx="3703320" cy="914400"/>
          </a:xfrm>
          <a:prstGeom prst="roundRect">
            <a:avLst>
              <a:gd name="adj" fmla="val 8000"/>
            </a:avLst>
          </a:prstGeom>
          <a:solidFill>
            <a:srgbClr val="1F8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4178808"/>
            <a:ext cx="342900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Chat Layer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(RAG + ethics gate)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103120" y="4983480"/>
            <a:ext cx="0" cy="320040"/>
          </a:xfrm>
          <a:prstGeom prst="line">
            <a:avLst/>
          </a:prstGeom>
          <a:ln w="25400">
            <a:solidFill>
              <a:srgbClr val="5B6B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623560" y="4983480"/>
            <a:ext cx="0" cy="320040"/>
          </a:xfrm>
          <a:prstGeom prst="line">
            <a:avLst/>
          </a:prstGeom>
          <a:ln w="25400">
            <a:solidFill>
              <a:srgbClr val="5B6B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326880" y="4983480"/>
            <a:ext cx="0" cy="320040"/>
          </a:xfrm>
          <a:prstGeom prst="line">
            <a:avLst/>
          </a:prstGeom>
          <a:ln w="25400">
            <a:solidFill>
              <a:srgbClr val="5B6B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57200" y="5349240"/>
            <a:ext cx="10744200" cy="777240"/>
          </a:xfrm>
          <a:prstGeom prst="roundRect">
            <a:avLst>
              <a:gd name="adj" fmla="val 8000"/>
            </a:avLst>
          </a:prstGeom>
          <a:solidFill>
            <a:srgbClr val="071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458968"/>
            <a:ext cx="10469880" cy="274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Next.js Dashboard · Simulator · Offers · Explain · Conversation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19963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B6B83"/>
                </a:solidFill>
                <a:latin typeface="Segoe UI"/>
              </a:rPr>
              <a:t>The model can only make the system safer — hard rules are evaluated independently and always win.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B6B83"/>
                </a:solidFill>
                <a:latin typeface="Segoe UI"/>
              </a:rPr>
              <a:t>MISP BANK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3"/>
                </a:solidFill>
                <a:latin typeface="Segoe U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7548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2547"/>
                </a:solidFill>
                <a:latin typeface="Segoe UI"/>
              </a:rPr>
              <a:t>Fraud &amp; Stress Detection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B83"/>
                </a:solidFill>
                <a:latin typeface="Segoe UI"/>
              </a:rPr>
              <a:t>Every transaction is scored in milliseconds — and can never be blocked without a reason.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760720" cy="457200"/>
          </a:xfrm>
          <a:prstGeom prst="rect">
            <a:avLst/>
          </a:prstGeom>
          <a:solidFill>
            <a:srgbClr val="0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91640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HARD, EXPLAINABLE RULES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760720" cy="56692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249424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C0392B"/>
                </a:solidFill>
                <a:latin typeface="Consolas"/>
              </a:rPr>
              <a:t>GEO_JUMP_HIGH_VALUE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249424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0F1729"/>
                </a:solidFill>
                <a:latin typeface="Segoe UI"/>
              </a:rPr>
              <a:t>&gt; 250 km jump + amount &gt; ₹15,000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61488"/>
            <a:ext cx="5760720" cy="56692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816352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C0392B"/>
                </a:solidFill>
                <a:latin typeface="Consolas"/>
              </a:rPr>
              <a:t>VELOCITY_5_DEBITS_2M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816352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0F1729"/>
                </a:solidFill>
                <a:latin typeface="Segoe UI"/>
              </a:rPr>
              <a:t>5+ debits inside 2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28416"/>
            <a:ext cx="5760720" cy="56692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338328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C0392B"/>
                </a:solidFill>
                <a:latin typeface="Consolas"/>
              </a:rPr>
              <a:t>NEW_DEVICE_HIGH_VALUE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38328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0F1729"/>
                </a:solidFill>
                <a:latin typeface="Segoe UI"/>
              </a:rPr>
              <a:t>amount &gt; ₹20,000 from an unseen device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95344"/>
            <a:ext cx="5760720" cy="56692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3950207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C0392B"/>
                </a:solidFill>
                <a:latin typeface="Consolas"/>
              </a:rPr>
              <a:t>NIGHT_HIGH_VALUE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950207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0F1729"/>
                </a:solidFill>
                <a:latin typeface="Segoe UI"/>
              </a:rPr>
              <a:t>amount &gt; ₹40,000, 10pm–5am 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62272"/>
            <a:ext cx="5760720" cy="56692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4517136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C0392B"/>
                </a:solidFill>
                <a:latin typeface="Consolas"/>
              </a:rPr>
              <a:t>WATCHLIST_PAYEE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517136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0F1729"/>
                </a:solidFill>
                <a:latin typeface="Segoe UI"/>
              </a:rPr>
              <a:t>flagged in either direction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194560"/>
            <a:ext cx="5760720" cy="2834640"/>
          </a:xfrm>
          <a:prstGeom prst="rect">
            <a:avLst/>
          </a:prstGeom>
          <a:noFill/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75120" y="1691640"/>
            <a:ext cx="4892040" cy="457200"/>
          </a:xfrm>
          <a:prstGeom prst="rect">
            <a:avLst/>
          </a:prstGeom>
          <a:solidFill>
            <a:srgbClr val="0B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69164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ML SCORE + STRESS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331720"/>
            <a:ext cx="46634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B57B0"/>
                </a:solidFill>
                <a:latin typeface="Segoe UI"/>
              </a:rPr>
              <a:t>› </a:t>
            </a:r>
            <a:r>
              <a:rPr sz="1250" b="1">
                <a:solidFill>
                  <a:srgbClr val="0F1729"/>
                </a:solidFill>
                <a:latin typeface="Segoe UI"/>
              </a:rPr>
              <a:t>RandomForest classifier </a:t>
            </a:r>
            <a:r>
              <a:rPr sz="1250">
                <a:solidFill>
                  <a:srgbClr val="0F1729"/>
                </a:solidFill>
                <a:latin typeface="Segoe UI"/>
              </a:rPr>
              <a:t>trained on labeled synthetic data, catches what hard rules can't: a large, atypical payment draining balance to a brand-new payee.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B57B0"/>
                </a:solidFill>
                <a:latin typeface="Segoe UI"/>
              </a:rPr>
              <a:t>› </a:t>
            </a:r>
            <a:r>
              <a:rPr sz="1250" b="1">
                <a:solidFill>
                  <a:srgbClr val="0F1729"/>
                </a:solidFill>
                <a:latin typeface="Segoe UI"/>
              </a:rPr>
              <a:t>Engineered risk_interaction feature </a:t>
            </a:r>
            <a:r>
              <a:rPr sz="1250">
                <a:solidFill>
                  <a:srgbClr val="0F1729"/>
                </a:solidFill>
                <a:latin typeface="Segoe UI"/>
              </a:rPr>
              <a:t>(amount vs. typical × balance ratio × new payee) turns a 3-way risk pattern into one strong signal.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B57B0"/>
                </a:solidFill>
                <a:latin typeface="Segoe UI"/>
              </a:rPr>
              <a:t>› </a:t>
            </a:r>
            <a:r>
              <a:rPr sz="1250" b="1">
                <a:solidFill>
                  <a:srgbClr val="0F1729"/>
                </a:solidFill>
                <a:latin typeface="Segoe UI"/>
              </a:rPr>
              <a:t>Missed-EMI cadence + negative savings rate </a:t>
            </a:r>
            <a:r>
              <a:rPr sz="1250">
                <a:solidFill>
                  <a:srgbClr val="0F1729"/>
                </a:solidFill>
                <a:latin typeface="Segoe UI"/>
              </a:rPr>
              <a:t>set a stress_flag — automatically.</a:t>
            </a:r>
          </a:p>
          <a:p>
            <a:pPr>
              <a:lnSpc>
                <a:spcPct val="122000"/>
              </a:lnSpc>
              <a:spcAft>
                <a:spcPts val="1000"/>
              </a:spcAft>
            </a:pPr>
            <a:r>
              <a:rPr sz="1250" b="1">
                <a:solidFill>
                  <a:srgbClr val="0B57B0"/>
                </a:solidFill>
                <a:latin typeface="Segoe UI"/>
              </a:rPr>
              <a:t>› </a:t>
            </a:r>
            <a:r>
              <a:rPr sz="1250" b="1">
                <a:solidFill>
                  <a:srgbClr val="0F1729"/>
                </a:solidFill>
                <a:latin typeface="Segoe UI"/>
              </a:rPr>
              <a:t>Under stress: </a:t>
            </a:r>
            <a:r>
              <a:rPr sz="1250">
                <a:solidFill>
                  <a:srgbClr val="0F1729"/>
                </a:solidFill>
                <a:latin typeface="Segoe UI"/>
              </a:rPr>
              <a:t>every credit-shaped offer is suppressed and a 15-day Grace Period is offered instead of a punitive block.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B6B83"/>
                </a:solidFill>
                <a:latin typeface="Segoe UI"/>
              </a:rPr>
              <a:t>MISP BANK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3"/>
                </a:solidFill>
                <a:latin typeface="Segoe U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7548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2547"/>
                </a:solidFill>
                <a:latin typeface="Segoe UI"/>
              </a:rPr>
              <a:t>Personalization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B83"/>
                </a:solidFill>
                <a:latin typeface="Segoe UI"/>
              </a:rPr>
              <a:t>7 behavioral segments feed a 19-rule offer engine — real products, never a generic banner.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892807"/>
            <a:ext cx="2313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57B0"/>
                </a:solidFill>
                <a:latin typeface="Segoe UI"/>
              </a:rPr>
              <a:t>FIRST_JOB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286000"/>
            <a:ext cx="23134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F1729"/>
                </a:solidFill>
                <a:latin typeface="Segoe UI"/>
              </a:rPr>
              <a:t>Starter credit, onboarding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178308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7016" y="1892807"/>
            <a:ext cx="2313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57B0"/>
                </a:solidFill>
                <a:latin typeface="Segoe UI"/>
              </a:rPr>
              <a:t>SAVER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7016" y="2286000"/>
            <a:ext cx="23134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F1729"/>
                </a:solidFill>
                <a:latin typeface="Segoe UI"/>
              </a:rPr>
              <a:t>Recurring deposit, mutual fund SIP, FD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8308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892807"/>
            <a:ext cx="2313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57B0"/>
                </a:solidFill>
                <a:latin typeface="Segoe UI"/>
              </a:rPr>
              <a:t>MARRIAGE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286000"/>
            <a:ext cx="23134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F1729"/>
                </a:solidFill>
                <a:latin typeface="Segoe UI"/>
              </a:rPr>
              <a:t>Wedding EMI plan, gold savings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1976" y="178308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892807"/>
            <a:ext cx="2313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57B0"/>
                </a:solidFill>
                <a:latin typeface="Segoe UI"/>
              </a:rPr>
              <a:t>MEDICAL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286000"/>
            <a:ext cx="23134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F1729"/>
                </a:solidFill>
                <a:latin typeface="Segoe UI"/>
              </a:rPr>
              <a:t>Micro-insurance, health cover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82112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291840"/>
            <a:ext cx="2313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57B0"/>
                </a:solidFill>
                <a:latin typeface="Segoe UI"/>
              </a:rPr>
              <a:t>STRESS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685032"/>
            <a:ext cx="23134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F1729"/>
                </a:solidFill>
                <a:latin typeface="Segoe UI"/>
              </a:rPr>
              <a:t>Grace period, credit paused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3182112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7016" y="3291840"/>
            <a:ext cx="2313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57B0"/>
                </a:solidFill>
                <a:latin typeface="Segoe UI"/>
              </a:rPr>
              <a:t>HIGH_VELOCITY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7016" y="3685032"/>
            <a:ext cx="23134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F1729"/>
                </a:solidFill>
                <a:latin typeface="Segoe UI"/>
              </a:rPr>
              <a:t>Spend insights, cashback card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3182112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3291840"/>
            <a:ext cx="2313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57B0"/>
                </a:solidFill>
                <a:latin typeface="Segoe UI"/>
              </a:rPr>
              <a:t>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3685032"/>
            <a:ext cx="231343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0F1729"/>
                </a:solidFill>
                <a:latin typeface="Segoe UI"/>
              </a:rPr>
              <a:t>Emergency fund target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18304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071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5546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DB3FF"/>
                </a:solidFill>
                <a:latin typeface="Segoe UI"/>
              </a:rPr>
              <a:t>PRODUCT VARIETY, NOT ONE OFFER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17550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Recurring Deposit · Mutual Fund SIP · Fixed Deposit · Tax-Saving ELSS · Gold Savings · Wedding EMI · Child Education Plan ·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Fuel Cashback · EMI Protect · Autopay Bundle · Night Security Lock · Emergency Fund · Cashback Card — 19 in total.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B6B83"/>
                </a:solidFill>
                <a:latin typeface="Segoe UI"/>
              </a:rPr>
              <a:t>MISP BANK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3"/>
                </a:solidFill>
                <a:latin typeface="Segoe U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3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7548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A2547"/>
                </a:solidFill>
                <a:latin typeface="Segoe UI"/>
              </a:rPr>
              <a:t>Vernacular Conversational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6B83"/>
                </a:solidFill>
                <a:latin typeface="Segoe UI"/>
              </a:rPr>
              <a:t>Onboarding and support that never requires English fluency.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20440" cy="1005840"/>
          </a:xfrm>
          <a:prstGeom prst="roundRect">
            <a:avLst>
              <a:gd name="adj" fmla="val 12000"/>
            </a:avLst>
          </a:prstGeom>
          <a:solidFill>
            <a:srgbClr val="FA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B3791F"/>
                </a:solidFill>
                <a:latin typeface="Segoe UI"/>
              </a:rPr>
              <a:t>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95728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3"/>
                </a:solidFill>
                <a:latin typeface="Segoe UI"/>
              </a:rPr>
              <a:t>native script · 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83080"/>
            <a:ext cx="3520440" cy="1005840"/>
          </a:xfrm>
          <a:prstGeom prst="roundRect">
            <a:avLst>
              <a:gd name="adj" fmla="val 12000"/>
            </a:avLst>
          </a:prstGeom>
          <a:solidFill>
            <a:srgbClr val="FA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B3791F"/>
                </a:solidFill>
                <a:latin typeface="Segoe UI"/>
              </a:rPr>
              <a:t>हिंदी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95728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3"/>
                </a:solidFill>
                <a:latin typeface="Segoe UI"/>
              </a:rPr>
              <a:t>native script · HI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520440" cy="1005840"/>
          </a:xfrm>
          <a:prstGeom prst="roundRect">
            <a:avLst>
              <a:gd name="adj" fmla="val 12000"/>
            </a:avLst>
          </a:prstGeom>
          <a:solidFill>
            <a:srgbClr val="FA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B3791F"/>
                </a:solidFill>
                <a:latin typeface="Segoe UI"/>
              </a:rPr>
              <a:t>ગુજરાતી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395728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3"/>
                </a:solidFill>
                <a:latin typeface="Segoe UI"/>
              </a:rPr>
              <a:t>native script · GU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63240"/>
            <a:ext cx="5120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250" b="1">
                <a:solidFill>
                  <a:srgbClr val="0B57B0"/>
                </a:solidFill>
                <a:latin typeface="Segoe UI"/>
              </a:rPr>
              <a:t>› </a:t>
            </a:r>
            <a:r>
              <a:rPr sz="1250" b="1">
                <a:solidFill>
                  <a:srgbClr val="0F1729"/>
                </a:solidFill>
                <a:latin typeface="Segoe UI"/>
              </a:rPr>
              <a:t>One-tap mock KYC </a:t>
            </a:r>
            <a:r>
              <a:rPr sz="1250">
                <a:solidFill>
                  <a:srgbClr val="0F1729"/>
                </a:solidFill>
                <a:latin typeface="Segoe UI"/>
              </a:rPr>
              <a:t>— PAN/Aadhaar type + consent, not a multi-screen form.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250" b="1">
                <a:solidFill>
                  <a:srgbClr val="0B57B0"/>
                </a:solidFill>
                <a:latin typeface="Segoe UI"/>
              </a:rPr>
              <a:t>› </a:t>
            </a:r>
            <a:r>
              <a:rPr sz="1250" b="1">
                <a:solidFill>
                  <a:srgbClr val="0F1729"/>
                </a:solidFill>
                <a:latin typeface="Segoe UI"/>
              </a:rPr>
              <a:t>Retrieval-grounded replies </a:t>
            </a:r>
            <a:r>
              <a:rPr sz="1250">
                <a:solidFill>
                  <a:srgbClr val="0F1729"/>
                </a:solidFill>
                <a:latin typeface="Segoe UI"/>
              </a:rPr>
              <a:t>over the bank's own policy documents, plus an optional live Gemini model.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250" b="1">
                <a:solidFill>
                  <a:srgbClr val="0B57B0"/>
                </a:solidFill>
                <a:latin typeface="Segoe UI"/>
              </a:rPr>
              <a:t>› </a:t>
            </a:r>
            <a:r>
              <a:rPr sz="1250" b="1">
                <a:solidFill>
                  <a:srgbClr val="0F1729"/>
                </a:solidFill>
                <a:latin typeface="Segoe UI"/>
              </a:rPr>
              <a:t>Same ethics gate as the transaction engine </a:t>
            </a:r>
            <a:r>
              <a:rPr sz="1250">
                <a:solidFill>
                  <a:srgbClr val="0F1729"/>
                </a:solidFill>
                <a:latin typeface="Segoe UI"/>
              </a:rPr>
              <a:t>— a stressed user asking for a loan gets grace-period support, never a credit pitch.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250" b="1">
                <a:solidFill>
                  <a:srgbClr val="0B57B0"/>
                </a:solidFill>
                <a:latin typeface="Segoe UI"/>
              </a:rPr>
              <a:t>› </a:t>
            </a:r>
            <a:r>
              <a:rPr sz="1250" b="1">
                <a:solidFill>
                  <a:srgbClr val="0F1729"/>
                </a:solidFill>
                <a:latin typeface="Segoe UI"/>
              </a:rPr>
              <a:t>Balance / offers / activity </a:t>
            </a:r>
            <a:r>
              <a:rPr sz="1250">
                <a:solidFill>
                  <a:srgbClr val="0F1729"/>
                </a:solidFill>
                <a:latin typeface="Segoe UI"/>
              </a:rPr>
              <a:t>answered instantly and deterministically, no LLM required.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063240"/>
            <a:ext cx="5212080" cy="3246120"/>
          </a:xfrm>
          <a:prstGeom prst="roundRect">
            <a:avLst>
              <a:gd name="adj" fmla="val 5000"/>
            </a:avLst>
          </a:prstGeom>
          <a:solidFill>
            <a:srgbClr val="0A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37960" y="3291840"/>
            <a:ext cx="2103120" cy="594360"/>
          </a:xfrm>
          <a:prstGeom prst="roundRect">
            <a:avLst>
              <a:gd name="adj" fmla="val 35000"/>
            </a:avLst>
          </a:prstGeom>
          <a:solidFill>
            <a:srgbClr val="0B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291840"/>
            <a:ext cx="1737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मेरा बैलेंस क्या है?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4069080"/>
            <a:ext cx="3931920" cy="822960"/>
          </a:xfrm>
          <a:prstGeom prst="roundRect">
            <a:avLst>
              <a:gd name="adj" fmla="val 20000"/>
            </a:avLst>
          </a:prstGeom>
          <a:solidFill>
            <a:srgbClr val="071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4178808"/>
            <a:ext cx="3566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3D4EC"/>
                </a:solidFill>
                <a:latin typeface="Segoe UI"/>
              </a:rPr>
              <a:t>आपका उपलब्ध बैलेंस ₹28,000 है।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5074920"/>
            <a:ext cx="2651760" cy="594360"/>
          </a:xfrm>
          <a:prstGeom prst="roundRect">
            <a:avLst>
              <a:gd name="adj" fmla="val 35000"/>
            </a:avLst>
          </a:prstGeom>
          <a:solidFill>
            <a:srgbClr val="0B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5074920"/>
            <a:ext cx="2286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Is my payment safe?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5852160"/>
            <a:ext cx="39319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585216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F8BB5"/>
                </a:solidFill>
                <a:latin typeface="Segoe UI"/>
              </a:rPr>
              <a:t>ethics_gate: credit refused · llm:gemini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B6B83"/>
                </a:solidFill>
                <a:latin typeface="Segoe UI"/>
              </a:rPr>
              <a:t>MISP BANK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3"/>
                </a:solidFill>
                <a:latin typeface="Segoe U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57B0"/>
                </a:solidFill>
                <a:latin typeface="Segoe UI"/>
              </a:rPr>
              <a:t>EXPLAINABILITY &amp; AUDIT TRAIL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A2547"/>
                </a:solidFill>
                <a:latin typeface="Segoe UI"/>
              </a:rPr>
              <a:t>Nothing about a decision is a black box.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B6B83"/>
                </a:solidFill>
                <a:latin typeface="Segoe UI"/>
              </a:rPr>
              <a:t>Every scored transaction is written to an immutable audit log — retrievable per-transaction, in one click.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5212080" cy="356616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57B0"/>
                </a:solidFill>
                <a:latin typeface="Segoe UI"/>
              </a:rPr>
              <a:t>AUDIT LOG 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3"/>
                </a:solidFill>
                <a:latin typeface="Consolas"/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8346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9"/>
                </a:solidFill>
                <a:latin typeface="Consolas"/>
              </a:rPr>
              <a:t>blocked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7296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3"/>
                </a:solidFill>
                <a:latin typeface="Consolas"/>
              </a:rPr>
              <a:t>fraud_score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17296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9"/>
                </a:solidFill>
                <a:latin typeface="Consolas"/>
              </a:rPr>
              <a:t>0.91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11296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3"/>
                </a:solidFill>
                <a:latin typeface="Consolas"/>
              </a:rPr>
              <a:t>fired_rules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511296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9"/>
                </a:solidFill>
                <a:latin typeface="Consolas"/>
              </a:rPr>
              <a:t>NEW_DEVICE_HIGH_VALUE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9624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3"/>
                </a:solidFill>
                <a:latin typeface="Consolas"/>
              </a:rPr>
              <a:t>km_from_last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849624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9"/>
                </a:solidFill>
                <a:latin typeface="Consolas"/>
              </a:rPr>
              <a:t>0.0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8795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3"/>
                </a:solidFill>
                <a:latin typeface="Consolas"/>
              </a:rPr>
              <a:t>amount_vs_typical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18795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9"/>
                </a:solidFill>
                <a:latin typeface="Consolas"/>
              </a:rPr>
              <a:t>4.6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3"/>
                </a:solidFill>
                <a:latin typeface="Consolas"/>
              </a:rPr>
              <a:t>balance_ratio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52628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9"/>
                </a:solidFill>
                <a:latin typeface="Consolas"/>
              </a:rPr>
              <a:t>0.71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6460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3"/>
                </a:solidFill>
                <a:latin typeface="Consolas"/>
              </a:rPr>
              <a:t>is_new_payee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86460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9"/>
                </a:solidFill>
                <a:latin typeface="Consolas"/>
              </a:rPr>
              <a:t>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02936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3"/>
                </a:solidFill>
                <a:latin typeface="Consolas"/>
              </a:rPr>
              <a:t>risk_interaction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202936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1729"/>
                </a:solidFill>
                <a:latin typeface="Consolas"/>
              </a:rPr>
              <a:t>3.27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148840"/>
            <a:ext cx="5394960" cy="3566160"/>
          </a:xfrm>
          <a:prstGeom prst="roundRect">
            <a:avLst>
              <a:gd name="adj" fmla="val 4000"/>
            </a:avLst>
          </a:prstGeom>
          <a:solidFill>
            <a:srgbClr val="071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3774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DB3FF"/>
                </a:solidFill>
                <a:latin typeface="Segoe UI"/>
              </a:rPr>
              <a:t>WHY THIS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834640"/>
            <a:ext cx="48463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250" b="1">
                <a:solidFill>
                  <a:srgbClr val="7DB3FF"/>
                </a:solidFill>
                <a:latin typeface="Segoe UI"/>
              </a:rPr>
              <a:t>› </a:t>
            </a:r>
            <a:r>
              <a:rPr sz="1250" b="1">
                <a:solidFill>
                  <a:srgbClr val="FFFFFF"/>
                </a:solidFill>
                <a:latin typeface="Segoe UI"/>
              </a:rPr>
              <a:t>For the customer: </a:t>
            </a:r>
            <a:r>
              <a:rPr sz="1250">
                <a:solidFill>
                  <a:srgbClr val="FFFFFF"/>
                </a:solidFill>
                <a:latin typeface="Segoe UI"/>
              </a:rPr>
              <a:t>the app's Auditor view shows the exact fired rule, plain-language, for every block.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250" b="1">
                <a:solidFill>
                  <a:srgbClr val="7DB3FF"/>
                </a:solidFill>
                <a:latin typeface="Segoe UI"/>
              </a:rPr>
              <a:t>› </a:t>
            </a:r>
            <a:r>
              <a:rPr sz="1250" b="1">
                <a:solidFill>
                  <a:srgbClr val="FFFFFF"/>
                </a:solidFill>
                <a:latin typeface="Segoe UI"/>
              </a:rPr>
              <a:t>For a regulator: </a:t>
            </a:r>
            <a:r>
              <a:rPr sz="1250">
                <a:solidFill>
                  <a:srgbClr val="FFFFFF"/>
                </a:solidFill>
                <a:latin typeface="Segoe UI"/>
              </a:rPr>
              <a:t>the full feature vector behind every score is retained, not just a final yes/no.</a:t>
            </a:r>
          </a:p>
          <a:p>
            <a:pPr>
              <a:lnSpc>
                <a:spcPct val="128000"/>
              </a:lnSpc>
              <a:spcAft>
                <a:spcPts val="1400"/>
              </a:spcAft>
            </a:pPr>
            <a:r>
              <a:rPr sz="1250" b="1">
                <a:solidFill>
                  <a:srgbClr val="7DB3FF"/>
                </a:solidFill>
                <a:latin typeface="Segoe UI"/>
              </a:rPr>
              <a:t>› </a:t>
            </a:r>
            <a:r>
              <a:rPr sz="1250" b="1">
                <a:solidFill>
                  <a:srgbClr val="FFFFFF"/>
                </a:solidFill>
                <a:latin typeface="Segoe UI"/>
              </a:rPr>
              <a:t>For the model: </a:t>
            </a:r>
            <a:r>
              <a:rPr sz="1250">
                <a:solidFill>
                  <a:srgbClr val="FFFFFF"/>
                </a:solidFill>
                <a:latin typeface="Segoe UI"/>
              </a:rPr>
              <a:t>hard rules are evaluated independently — an ML regression can only be more cautious, never less.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B6B83"/>
                </a:solidFill>
                <a:latin typeface="Segoe UI"/>
              </a:rPr>
              <a:t>MISP BANK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3"/>
                </a:solidFill>
                <a:latin typeface="Segoe U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57B0"/>
                </a:solidFill>
                <a:latin typeface="Segoe UI"/>
              </a:rPr>
              <a:t>ETHICAL 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A2547"/>
                </a:solidFill>
                <a:latin typeface="Segoe UI"/>
              </a:rPr>
              <a:t>Built directly against the judging criteria.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257800" cy="14173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82296" cy="1417320"/>
          </a:xfrm>
          <a:prstGeom prst="rect">
            <a:avLst/>
          </a:prstGeom>
          <a:solidFill>
            <a:srgbClr val="1F8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2821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A2547"/>
                </a:solidFill>
                <a:latin typeface="Segoe UI"/>
              </a:rPr>
              <a:t>Data minimization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12264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80" b="0" i="0">
                <a:solidFill>
                  <a:srgbClr val="5B6B83"/>
                </a:solidFill>
                <a:latin typeface="Segoe UI"/>
              </a:rPr>
              <a:t>KYC stores only a mock verification reference + timestamped consent — never a document image or Aadhaar byte. DPDP Act in spirit.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257800" cy="14173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00200"/>
            <a:ext cx="82296" cy="1417320"/>
          </a:xfrm>
          <a:prstGeom prst="rect">
            <a:avLst/>
          </a:prstGeom>
          <a:solidFill>
            <a:srgbClr val="1F8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2821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A2547"/>
                </a:solidFill>
                <a:latin typeface="Segoe UI"/>
              </a:rPr>
              <a:t>No predatory nudging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12264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80" b="0" i="0">
                <a:solidFill>
                  <a:srgbClr val="5B6B83"/>
                </a:solidFill>
                <a:latin typeface="Segoe UI"/>
              </a:rPr>
              <a:t>A stress signal automatically suppresses every credit-shaped offer (loans, starter credit, EMI conversion) — the chat layer cannot override this.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82112"/>
            <a:ext cx="5257800" cy="14173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82112"/>
            <a:ext cx="82296" cy="1417320"/>
          </a:xfrm>
          <a:prstGeom prst="rect">
            <a:avLst/>
          </a:prstGeom>
          <a:solidFill>
            <a:srgbClr val="1F8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101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A2547"/>
                </a:solidFill>
                <a:latin typeface="Segoe UI"/>
              </a:rPr>
              <a:t>Model can't weaken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94176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80" b="0" i="0">
                <a:solidFill>
                  <a:srgbClr val="5B6B83"/>
                </a:solidFill>
                <a:latin typeface="Segoe UI"/>
              </a:rPr>
              <a:t>Hard fraud rules are evaluated independently of the ML score and always take precedence — a bad model can only be more cautious, never less.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82112"/>
            <a:ext cx="5257800" cy="14173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182112"/>
            <a:ext cx="82296" cy="1417320"/>
          </a:xfrm>
          <a:prstGeom prst="rect">
            <a:avLst/>
          </a:prstGeom>
          <a:solidFill>
            <a:srgbClr val="1F8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3101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A2547"/>
                </a:solidFill>
                <a:latin typeface="Segoe UI"/>
              </a:rPr>
              <a:t>Bias-aware defaults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94176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80" b="0" i="0">
                <a:solidFill>
                  <a:srgbClr val="5B6B83"/>
                </a:solidFill>
                <a:latin typeface="Segoe UI"/>
              </a:rPr>
              <a:t>Missed EMI / negative savings rate are deterministic overrides evaluated before the probabilistic model — real financial stress can't be hidden by a score.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64024"/>
            <a:ext cx="5257800" cy="14173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764024"/>
            <a:ext cx="82296" cy="1417320"/>
          </a:xfrm>
          <a:prstGeom prst="rect">
            <a:avLst/>
          </a:prstGeom>
          <a:solidFill>
            <a:srgbClr val="1F8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A2547"/>
                </a:solidFill>
                <a:latin typeface="Segoe UI"/>
              </a:rPr>
              <a:t>Explainable, not a black 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76088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80" b="0" i="0">
                <a:solidFill>
                  <a:srgbClr val="5B6B83"/>
                </a:solidFill>
                <a:latin typeface="Segoe UI"/>
              </a:rPr>
              <a:t>Every score ships with its fired rule(s) and full feature vector — never a bare number.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764024"/>
            <a:ext cx="5257800" cy="14173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764024"/>
            <a:ext cx="82296" cy="1417320"/>
          </a:xfrm>
          <a:prstGeom prst="rect">
            <a:avLst/>
          </a:prstGeom>
          <a:solidFill>
            <a:srgbClr val="1F8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8920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A2547"/>
                </a:solidFill>
                <a:latin typeface="Segoe UI"/>
              </a:rPr>
              <a:t>Mocks are labeled as mocks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276088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80" b="0" i="0">
                <a:solidFill>
                  <a:srgbClr val="5B6B83"/>
                </a:solidFill>
                <a:latin typeface="Segoe UI"/>
              </a:rPr>
              <a:t>UPI, DigiLocker, and payment capture are clearly mock in the UI copy itself — no synthetic data is presented as a real financial instrument.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B6B83"/>
                </a:solidFill>
                <a:latin typeface="Segoe UI"/>
              </a:rPr>
              <a:t>MISP BANK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3"/>
                </a:solidFill>
                <a:latin typeface="Segoe U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DB3FF"/>
                </a:solidFill>
                <a:latin typeface="Segoe UI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Production-shaped, not a notebook demo.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520440" cy="502920"/>
          </a:xfrm>
          <a:prstGeom prst="roundRect">
            <a:avLst>
              <a:gd name="adj" fmla="val 15000"/>
            </a:avLst>
          </a:prstGeom>
          <a:solidFill>
            <a:srgbClr val="0B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3520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2461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0B57B0"/>
                </a:solidFill>
                <a:latin typeface="Segoe UI"/>
              </a:rPr>
              <a:t>› </a:t>
            </a:r>
            <a:r>
              <a:rPr sz="1200">
                <a:solidFill>
                  <a:srgbClr val="DFE9F7"/>
                </a:solidFill>
                <a:latin typeface="Segoe UI"/>
              </a:rPr>
              <a:t>FastAPI + Pydantic v2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0B57B0"/>
                </a:solidFill>
                <a:latin typeface="Segoe UI"/>
              </a:rPr>
              <a:t>› </a:t>
            </a:r>
            <a:r>
              <a:rPr sz="1200">
                <a:solidFill>
                  <a:srgbClr val="DFE9F7"/>
                </a:solidFill>
                <a:latin typeface="Segoe UI"/>
              </a:rPr>
              <a:t>SQLAlchemy 2.0 + Alembic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0B57B0"/>
                </a:solidFill>
                <a:latin typeface="Segoe UI"/>
              </a:rPr>
              <a:t>› </a:t>
            </a:r>
            <a:r>
              <a:rPr sz="1200">
                <a:solidFill>
                  <a:srgbClr val="DFE9F7"/>
                </a:solidFill>
                <a:latin typeface="Segoe UI"/>
              </a:rPr>
              <a:t>PostgreSQL (Neon) · SQLite for dev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0B57B0"/>
                </a:solidFill>
                <a:latin typeface="Segoe UI"/>
              </a:rPr>
              <a:t>› </a:t>
            </a:r>
            <a:r>
              <a:rPr sz="1200">
                <a:solidFill>
                  <a:srgbClr val="DFE9F7"/>
                </a:solidFill>
                <a:latin typeface="Segoe UI"/>
              </a:rPr>
              <a:t>scikit-learn (RandomForest, HistGBM, IsolationForest)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0B57B0"/>
                </a:solidFill>
                <a:latin typeface="Segoe UI"/>
              </a:rPr>
              <a:t>› </a:t>
            </a:r>
            <a:r>
              <a:rPr sz="1200">
                <a:solidFill>
                  <a:srgbClr val="DFE9F7"/>
                </a:solidFill>
                <a:latin typeface="Segoe UI"/>
              </a:rPr>
              <a:t>XGBoost inference fallback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0B57B0"/>
                </a:solidFill>
                <a:latin typeface="Segoe UI"/>
              </a:rPr>
              <a:t>› </a:t>
            </a:r>
            <a:r>
              <a:rPr sz="1200">
                <a:solidFill>
                  <a:srgbClr val="DFE9F7"/>
                </a:solidFill>
                <a:latin typeface="Segoe UI"/>
              </a:rPr>
              <a:t>passlib + python-jose (JWT)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91640"/>
            <a:ext cx="3520440" cy="502920"/>
          </a:xfrm>
          <a:prstGeom prst="roundRect">
            <a:avLst>
              <a:gd name="adj" fmla="val 15000"/>
            </a:avLst>
          </a:prstGeom>
          <a:solidFill>
            <a:srgbClr val="B3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691640"/>
            <a:ext cx="3520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377440"/>
            <a:ext cx="32461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B3791F"/>
                </a:solidFill>
                <a:latin typeface="Segoe UI"/>
              </a:rPr>
              <a:t>› </a:t>
            </a:r>
            <a:r>
              <a:rPr sz="1200">
                <a:solidFill>
                  <a:srgbClr val="DFE9F7"/>
                </a:solidFill>
                <a:latin typeface="Segoe UI"/>
              </a:rPr>
              <a:t>Next.js 14 (App Router)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B3791F"/>
                </a:solidFill>
                <a:latin typeface="Segoe UI"/>
              </a:rPr>
              <a:t>› </a:t>
            </a:r>
            <a:r>
              <a:rPr sz="1200">
                <a:solidFill>
                  <a:srgbClr val="DFE9F7"/>
                </a:solidFill>
                <a:latin typeface="Segoe UI"/>
              </a:rPr>
              <a:t>React 18 + TypeScript (strict)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B3791F"/>
                </a:solidFill>
                <a:latin typeface="Segoe UI"/>
              </a:rPr>
              <a:t>› </a:t>
            </a:r>
            <a:r>
              <a:rPr sz="1200">
                <a:solidFill>
                  <a:srgbClr val="DFE9F7"/>
                </a:solidFill>
                <a:latin typeface="Segoe UI"/>
              </a:rPr>
              <a:t>Tailwind CSS design tokens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B3791F"/>
                </a:solidFill>
                <a:latin typeface="Segoe UI"/>
              </a:rPr>
              <a:t>› </a:t>
            </a:r>
            <a:r>
              <a:rPr sz="1200">
                <a:solidFill>
                  <a:srgbClr val="DFE9F7"/>
                </a:solidFill>
                <a:latin typeface="Segoe UI"/>
              </a:rPr>
              <a:t>Code-split, dynamically-imported views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B3791F"/>
                </a:solidFill>
                <a:latin typeface="Segoe UI"/>
              </a:rPr>
              <a:t>› </a:t>
            </a:r>
            <a:r>
              <a:rPr sz="1200">
                <a:solidFill>
                  <a:srgbClr val="DFE9F7"/>
                </a:solidFill>
                <a:latin typeface="Segoe UI"/>
              </a:rPr>
              <a:t>Razorpay Checkout (test mode)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B3791F"/>
                </a:solidFill>
                <a:latin typeface="Segoe UI"/>
              </a:rPr>
              <a:t>› </a:t>
            </a:r>
            <a:r>
              <a:rPr sz="1200">
                <a:solidFill>
                  <a:srgbClr val="DFE9F7"/>
                </a:solidFill>
                <a:latin typeface="Segoe UI"/>
              </a:rPr>
              <a:t>lucide-react icon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91640"/>
            <a:ext cx="3520440" cy="502920"/>
          </a:xfrm>
          <a:prstGeom prst="roundRect">
            <a:avLst>
              <a:gd name="adj" fmla="val 15000"/>
            </a:avLst>
          </a:prstGeom>
          <a:solidFill>
            <a:srgbClr val="1F8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691640"/>
            <a:ext cx="3520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377440"/>
            <a:ext cx="32461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1F8A51"/>
                </a:solidFill>
                <a:latin typeface="Segoe UI"/>
              </a:rPr>
              <a:t>› </a:t>
            </a:r>
            <a:r>
              <a:rPr sz="1200">
                <a:solidFill>
                  <a:srgbClr val="DFE9F7"/>
                </a:solidFill>
                <a:latin typeface="Segoe UI"/>
              </a:rPr>
              <a:t>Docker → Azure Container Apps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1F8A51"/>
                </a:solidFill>
                <a:latin typeface="Segoe UI"/>
              </a:rPr>
              <a:t>› </a:t>
            </a:r>
            <a:r>
              <a:rPr sz="1200">
                <a:solidFill>
                  <a:srgbClr val="DFE9F7"/>
                </a:solidFill>
                <a:latin typeface="Segoe UI"/>
              </a:rPr>
              <a:t>Auto-deploy on push (GitHub Actions)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1F8A51"/>
                </a:solidFill>
                <a:latin typeface="Segoe UI"/>
              </a:rPr>
              <a:t>› </a:t>
            </a:r>
            <a:r>
              <a:rPr sz="1200">
                <a:solidFill>
                  <a:srgbClr val="DFE9F7"/>
                </a:solidFill>
                <a:latin typeface="Segoe UI"/>
              </a:rPr>
              <a:t>Vercel for the frontend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1F8A51"/>
                </a:solidFill>
                <a:latin typeface="Segoe UI"/>
              </a:rPr>
              <a:t>› </a:t>
            </a:r>
            <a:r>
              <a:rPr sz="1200">
                <a:solidFill>
                  <a:srgbClr val="DFE9F7"/>
                </a:solidFill>
                <a:latin typeface="Segoe UI"/>
              </a:rPr>
              <a:t>Neon serverless Postgres (pooled)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1F8A51"/>
                </a:solidFill>
                <a:latin typeface="Segoe UI"/>
              </a:rPr>
              <a:t>› </a:t>
            </a:r>
            <a:r>
              <a:rPr sz="1200">
                <a:solidFill>
                  <a:srgbClr val="DFE9F7"/>
                </a:solidFill>
                <a:latin typeface="Segoe UI"/>
              </a:rPr>
              <a:t>Immutable audit-log persistence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00" b="1">
                <a:solidFill>
                  <a:srgbClr val="1F8A51"/>
                </a:solidFill>
                <a:latin typeface="Segoe UI"/>
              </a:rPr>
              <a:t>› </a:t>
            </a:r>
            <a:r>
              <a:rPr sz="1200">
                <a:solidFill>
                  <a:srgbClr val="DFE9F7"/>
                </a:solidFill>
                <a:latin typeface="Segoe UI"/>
              </a:rPr>
              <a:t>pytest test suite, CI-verified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Segoe U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57B0"/>
                </a:solidFill>
                <a:latin typeface="Segoe UI"/>
              </a:rPr>
              <a:t>MODEL VALIDITY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547"/>
                </a:solidFill>
                <a:latin typeface="Segoe UI"/>
              </a:rPr>
              <a:t>Measured, not assumed — and honest about the limits.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82880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B57B0"/>
                </a:solidFill>
                <a:latin typeface="Segoe UI"/>
              </a:rPr>
              <a:t>98%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51460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0A2547"/>
                </a:solidFill>
                <a:latin typeface="Segoe UI"/>
              </a:rPr>
              <a:t>Fraud 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2608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B6B83"/>
                </a:solidFill>
                <a:latin typeface="Segoe UI"/>
              </a:rPr>
              <a:t>very few legitimate payments blocked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2424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5304" y="182880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B57B0"/>
                </a:solidFill>
                <a:latin typeface="Segoe UI"/>
              </a:rPr>
              <a:t>93%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251460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0A2547"/>
                </a:solidFill>
                <a:latin typeface="Segoe UI"/>
              </a:rPr>
              <a:t>Recall on the targeted risk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292608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B6B83"/>
                </a:solidFill>
                <a:latin typeface="Segoe UI"/>
              </a:rPr>
              <a:t>new payee + balance drain, held-out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82880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B57B0"/>
                </a:solidFill>
                <a:latin typeface="Segoe UI"/>
              </a:rPr>
              <a:t>0.81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51460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0A2547"/>
                </a:solidFill>
                <a:latin typeface="Segoe UI"/>
              </a:rPr>
              <a:t>ROC-AUC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92608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B6B83"/>
                </a:solidFill>
                <a:latin typeface="Segoe UI"/>
              </a:rPr>
              <a:t>fraud classifier, held-out test 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7112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9992" y="1828800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B57B0"/>
                </a:solidFill>
                <a:latin typeface="Segoe UI"/>
              </a:rPr>
              <a:t>79%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251460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0A2547"/>
                </a:solidFill>
                <a:latin typeface="Segoe UI"/>
              </a:rPr>
              <a:t>Segmentation macro-F1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292608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B6B83"/>
                </a:solidFill>
                <a:latin typeface="Segoe UI"/>
              </a:rPr>
              <a:t>across all 7 behavioral segments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03320"/>
            <a:ext cx="10881360" cy="2103120"/>
          </a:xfrm>
          <a:prstGeom prst="roundRect">
            <a:avLst>
              <a:gd name="adj" fmla="val 4000"/>
            </a:avLst>
          </a:prstGeom>
          <a:solidFill>
            <a:srgbClr val="071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862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DB3FF"/>
                </a:solidFill>
                <a:latin typeface="Segoe UI"/>
              </a:rPr>
              <a:t>TRANSPARENCY OVER A POLISHED-LOOKING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103327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 b="1">
                <a:solidFill>
                  <a:srgbClr val="7DB3FF"/>
                </a:solidFill>
                <a:latin typeface="Segoe UI"/>
              </a:rPr>
              <a:t>› </a:t>
            </a:r>
            <a:r>
              <a:rPr sz="1200">
                <a:solidFill>
                  <a:srgbClr val="FFFFFF"/>
                </a:solidFill>
                <a:latin typeface="Segoe UI"/>
              </a:rPr>
              <a:t>Both models train on synthetic data — reported metrics are against a held-out slice of that same data, a methodology demonstration, not a real-world validated claim.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00" b="1">
                <a:solidFill>
                  <a:srgbClr val="7DB3FF"/>
                </a:solidFill>
                <a:latin typeface="Segoe UI"/>
              </a:rPr>
              <a:t>› </a:t>
            </a:r>
            <a:r>
              <a:rPr sz="1200">
                <a:solidFill>
                  <a:srgbClr val="FFFFFF"/>
                </a:solidFill>
                <a:latin typeface="Segoe UI"/>
              </a:rPr>
              <a:t>Fixed a real bug this session: the training data had almost no large legitimate transactions, so any big payment was scored as fraud regardless of context — corrected by rebalancing the training population and adding an engineered risk-interaction feature.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B6B83"/>
                </a:solidFill>
                <a:latin typeface="Segoe UI"/>
              </a:rPr>
              <a:t>MISP BANK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3"/>
                </a:solidFill>
                <a:latin typeface="Segoe U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57B0"/>
                </a:solidFill>
                <a:latin typeface="Segoe UI"/>
              </a:rPr>
              <a:t>JUDGING CRITERIA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A2547"/>
                </a:solidFill>
                <a:latin typeface="Segoe UI"/>
              </a:rPr>
              <a:t>Mapped, point by point.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02920" cy="777240"/>
          </a:xfrm>
          <a:prstGeom prst="roundRect">
            <a:avLst>
              <a:gd name="adj" fmla="val 50000"/>
            </a:avLst>
          </a:prstGeom>
          <a:solidFill>
            <a:srgbClr val="1F8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02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1600200"/>
            <a:ext cx="10241280" cy="7772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691640"/>
            <a:ext cx="3291840" cy="594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A2547"/>
                </a:solidFill>
                <a:latin typeface="Segoe UI"/>
              </a:rPr>
              <a:t>Innovation &amp; technical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691640"/>
            <a:ext cx="6446520" cy="594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B83"/>
                </a:solidFill>
                <a:latin typeface="Segoe UI"/>
              </a:rPr>
              <a:t>A real, running decision pipeline — hard rules + 2 trained ML models — not a wireframe.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87168"/>
            <a:ext cx="502920" cy="777240"/>
          </a:xfrm>
          <a:prstGeom prst="roundRect">
            <a:avLst>
              <a:gd name="adj" fmla="val 50000"/>
            </a:avLst>
          </a:prstGeom>
          <a:solidFill>
            <a:srgbClr val="1F8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502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2487168"/>
            <a:ext cx="10241280" cy="7772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2578608"/>
            <a:ext cx="3291840" cy="594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A2547"/>
                </a:solidFill>
                <a:latin typeface="Segoe UI"/>
              </a:rPr>
              <a:t>Personalization vs. upsell-driven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578608"/>
            <a:ext cx="6446520" cy="594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B83"/>
                </a:solidFill>
                <a:latin typeface="Segoe UI"/>
              </a:rPr>
              <a:t>19 rules across 7 segments, ethics-gated; credit offers withheld under stress automatically.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74135"/>
            <a:ext cx="502920" cy="777240"/>
          </a:xfrm>
          <a:prstGeom prst="roundRect">
            <a:avLst>
              <a:gd name="adj" fmla="val 50000"/>
            </a:avLst>
          </a:prstGeom>
          <a:solidFill>
            <a:srgbClr val="1F8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74135"/>
            <a:ext cx="502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3374135"/>
            <a:ext cx="10241280" cy="7772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3465575"/>
            <a:ext cx="3291840" cy="594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A2547"/>
                </a:solidFill>
                <a:latin typeface="Segoe UI"/>
              </a:rPr>
              <a:t>Explainability &amp; RBI-readiness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465575"/>
            <a:ext cx="6446520" cy="594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B83"/>
                </a:solidFill>
                <a:latin typeface="Segoe UI"/>
              </a:rPr>
              <a:t>Immutable per-transaction audit log; every score ships with its fired rule(s), never a bare number.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61103"/>
            <a:ext cx="502920" cy="777240"/>
          </a:xfrm>
          <a:prstGeom prst="roundRect">
            <a:avLst>
              <a:gd name="adj" fmla="val 50000"/>
            </a:avLst>
          </a:prstGeom>
          <a:solidFill>
            <a:srgbClr val="1F8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61103"/>
            <a:ext cx="502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4261103"/>
            <a:ext cx="10241280" cy="7772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4352543"/>
            <a:ext cx="3291840" cy="594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A2547"/>
                </a:solidFill>
                <a:latin typeface="Segoe UI"/>
              </a:rPr>
              <a:t>Usability for non-tech, vernacular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352543"/>
            <a:ext cx="6446520" cy="594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B83"/>
                </a:solidFill>
                <a:latin typeface="Segoe UI"/>
              </a:rPr>
              <a:t>One-tap mock KYC + EN/HI/GU assistant; OTP-as-you-type step-up auth, no extra clicks.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48071"/>
            <a:ext cx="502920" cy="777240"/>
          </a:xfrm>
          <a:prstGeom prst="roundRect">
            <a:avLst>
              <a:gd name="adj" fmla="val 50000"/>
            </a:avLst>
          </a:prstGeom>
          <a:solidFill>
            <a:srgbClr val="1F8A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48071"/>
            <a:ext cx="502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5148071"/>
            <a:ext cx="10241280" cy="7772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08760" y="5239511"/>
            <a:ext cx="3291840" cy="594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A2547"/>
                </a:solidFill>
                <a:latin typeface="Segoe UI"/>
              </a:rPr>
              <a:t>Scalability across existing 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5239511"/>
            <a:ext cx="6446520" cy="5943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B83"/>
                </a:solidFill>
                <a:latin typeface="Segoe UI"/>
              </a:rPr>
              <a:t>Standard FastAPI + Postgres + Next.js stack; Dockerized, CI/CD to Azure + Vercel already live.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B6B83"/>
                </a:solidFill>
                <a:latin typeface="Segoe UI"/>
              </a:rPr>
              <a:t>MISP BANK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3"/>
                </a:solidFill>
                <a:latin typeface="Segoe U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57B0"/>
                </a:solidFill>
                <a:latin typeface="Segoe U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A2547"/>
                </a:solidFill>
                <a:latin typeface="Segoe UI"/>
              </a:rPr>
              <a:t>What's already live vs. what's next.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57800" cy="3749039"/>
          </a:xfrm>
          <a:prstGeom prst="roundRect">
            <a:avLst>
              <a:gd name="adj" fmla="val 4000"/>
            </a:avLst>
          </a:prstGeom>
          <a:solidFill>
            <a:srgbClr val="E6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8A51"/>
                </a:solidFill>
                <a:latin typeface="Segoe UI"/>
              </a:rPr>
              <a:t>✓ LIVE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7548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1">
                <a:solidFill>
                  <a:srgbClr val="1F8A51"/>
                </a:solidFill>
                <a:latin typeface="Segoe UI"/>
              </a:rPr>
              <a:t>› </a:t>
            </a:r>
            <a:r>
              <a:rPr sz="1250">
                <a:solidFill>
                  <a:srgbClr val="0F1729"/>
                </a:solidFill>
                <a:latin typeface="Segoe UI"/>
              </a:rPr>
              <a:t>Full transaction pipeline: hard rules + ML fraud score + audit log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1">
                <a:solidFill>
                  <a:srgbClr val="1F8A51"/>
                </a:solidFill>
                <a:latin typeface="Segoe UI"/>
              </a:rPr>
              <a:t>› </a:t>
            </a:r>
            <a:r>
              <a:rPr sz="1250">
                <a:solidFill>
                  <a:srgbClr val="0F1729"/>
                </a:solidFill>
                <a:latin typeface="Segoe UI"/>
              </a:rPr>
              <a:t>7-segment behavioral model driving 19 offer rules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1">
                <a:solidFill>
                  <a:srgbClr val="1F8A51"/>
                </a:solidFill>
                <a:latin typeface="Segoe UI"/>
              </a:rPr>
              <a:t>› </a:t>
            </a:r>
            <a:r>
              <a:rPr sz="1250">
                <a:solidFill>
                  <a:srgbClr val="0F1729"/>
                </a:solidFill>
                <a:latin typeface="Segoe UI"/>
              </a:rPr>
              <a:t>Trilingual assistant (EN/HI/GU) with ethics gate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1">
                <a:solidFill>
                  <a:srgbClr val="1F8A51"/>
                </a:solidFill>
                <a:latin typeface="Segoe UI"/>
              </a:rPr>
              <a:t>› </a:t>
            </a:r>
            <a:r>
              <a:rPr sz="1250">
                <a:solidFill>
                  <a:srgbClr val="0F1729"/>
                </a:solidFill>
                <a:latin typeface="Segoe UI"/>
              </a:rPr>
              <a:t>Safety Simulator with step-up OTP auth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1">
                <a:solidFill>
                  <a:srgbClr val="1F8A51"/>
                </a:solidFill>
                <a:latin typeface="Segoe UI"/>
              </a:rPr>
              <a:t>› </a:t>
            </a:r>
            <a:r>
              <a:rPr sz="1250">
                <a:solidFill>
                  <a:srgbClr val="0F1729"/>
                </a:solidFill>
                <a:latin typeface="Segoe UI"/>
              </a:rPr>
              <a:t>Deployed: Azure Container Apps (API) + Vercel (web)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257800" cy="3749039"/>
          </a:xfrm>
          <a:prstGeom prst="roundRect">
            <a:avLst>
              <a:gd name="adj" fmla="val 40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7451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57B0"/>
                </a:solidFill>
                <a:latin typeface="Segoe UI"/>
              </a:rPr>
              <a:t>→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331720"/>
            <a:ext cx="47548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1">
                <a:solidFill>
                  <a:srgbClr val="0B57B0"/>
                </a:solidFill>
                <a:latin typeface="Segoe UI"/>
              </a:rPr>
              <a:t>› </a:t>
            </a:r>
            <a:r>
              <a:rPr sz="1250">
                <a:solidFill>
                  <a:srgbClr val="0F1729"/>
                </a:solidFill>
                <a:latin typeface="Segoe UI"/>
              </a:rPr>
              <a:t>Real bank-statement ingestion via the Account Aggregator framework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1">
                <a:solidFill>
                  <a:srgbClr val="0B57B0"/>
                </a:solidFill>
                <a:latin typeface="Segoe UI"/>
              </a:rPr>
              <a:t>› </a:t>
            </a:r>
            <a:r>
              <a:rPr sz="1250">
                <a:solidFill>
                  <a:srgbClr val="0F1729"/>
                </a:solidFill>
                <a:latin typeface="Segoe UI"/>
              </a:rPr>
              <a:t>A/B testing harness for offer acceptance by segment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1">
                <a:solidFill>
                  <a:srgbClr val="0B57B0"/>
                </a:solidFill>
                <a:latin typeface="Segoe UI"/>
              </a:rPr>
              <a:t>› </a:t>
            </a:r>
            <a:r>
              <a:rPr sz="1250">
                <a:solidFill>
                  <a:srgbClr val="0F1729"/>
                </a:solidFill>
                <a:latin typeface="Segoe UI"/>
              </a:rPr>
              <a:t>Formal bias audit once real-world-shaped data is available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1">
                <a:solidFill>
                  <a:srgbClr val="0B57B0"/>
                </a:solidFill>
                <a:latin typeface="Segoe UI"/>
              </a:rPr>
              <a:t>› </a:t>
            </a:r>
            <a:r>
              <a:rPr sz="1250">
                <a:solidFill>
                  <a:srgbClr val="0F1729"/>
                </a:solidFill>
                <a:latin typeface="Segoe UI"/>
              </a:rPr>
              <a:t>Push notifications for grace-period &amp; security alerts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1">
                <a:solidFill>
                  <a:srgbClr val="0B57B0"/>
                </a:solidFill>
                <a:latin typeface="Segoe UI"/>
              </a:rPr>
              <a:t>› </a:t>
            </a:r>
            <a:r>
              <a:rPr sz="1250">
                <a:solidFill>
                  <a:srgbClr val="0F1729"/>
                </a:solidFill>
                <a:latin typeface="Segoe UI"/>
              </a:rPr>
              <a:t>Additional Indian languages beyond EN/HI/GU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B6B83"/>
                </a:solidFill>
                <a:latin typeface="Segoe UI"/>
              </a:rPr>
              <a:t>MISP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3"/>
                </a:solidFill>
                <a:latin typeface="Segoe U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2286000" y="-1097280"/>
            <a:ext cx="5943600" cy="8961120"/>
          </a:xfrm>
          <a:prstGeom prst="parallelogram">
            <a:avLst/>
          </a:prstGeom>
          <a:solidFill>
            <a:srgbClr val="071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0" y="19659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Segoe UI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2788920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7DB3FF"/>
                </a:solidFill>
                <a:latin typeface="Segoe UI"/>
              </a:rPr>
              <a:t>Money that understands life.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3703320"/>
            <a:ext cx="6309360" cy="777240"/>
          </a:xfrm>
          <a:prstGeom prst="roundRect">
            <a:avLst>
              <a:gd name="adj" fmla="val 15000"/>
            </a:avLst>
          </a:prstGeom>
          <a:solidFill>
            <a:srgbClr val="0B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3703320"/>
            <a:ext cx="6309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Live App  →  hack-out-26.vercel.app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4617720"/>
            <a:ext cx="6309360" cy="777240"/>
          </a:xfrm>
          <a:prstGeom prst="roundRect">
            <a:avLst>
              <a:gd name="adj" fmla="val 15000"/>
            </a:avLst>
          </a:prstGeom>
          <a:solidFill>
            <a:srgbClr val="071A34"/>
          </a:solidFill>
          <a:ln w="19050">
            <a:solidFill>
              <a:srgbClr val="0B5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4617720"/>
            <a:ext cx="6309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C3D4EC"/>
                </a:solidFill>
                <a:latin typeface="Segoe UI"/>
              </a:rPr>
              <a:t>Demo login  →  any seeded phone · PIN 1234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Segoe U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